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System Architecture &amp; Execution Flowchart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470" y="868680"/>
            <a:ext cx="3291840" cy="594360"/>
          </a:xfrm>
          <a:prstGeom prst="roundRect">
            <a:avLst/>
          </a:prstGeom>
          <a:solidFill>
            <a:srgbClr val="1C2028"/>
          </a:solidFill>
          <a:ln w="19050">
            <a:solidFill>
              <a:srgbClr val="00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Input Source</a:t>
            </a:r>
          </a:p>
          <a:p>
            <a:pPr algn="ctr">
              <a:defRPr sz="900">
                <a:solidFill>
                  <a:srgbClr val="B4D7F5"/>
                </a:solidFill>
                <a:latin typeface="Segoe UI"/>
              </a:defRPr>
            </a:pPr>
            <a:r>
              <a:t>(Webcam / Video File / Demo)</a:t>
            </a:r>
          </a:p>
        </p:txBody>
      </p:sp>
      <p:sp>
        <p:nvSpPr>
          <p:cNvPr id="5" name="Down Arrow 4"/>
          <p:cNvSpPr/>
          <p:nvPr/>
        </p:nvSpPr>
        <p:spPr>
          <a:xfrm>
            <a:off x="6022238" y="1463040"/>
            <a:ext cx="146304" cy="228600"/>
          </a:xfrm>
          <a:prstGeom prst="downArrow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49470" y="1691640"/>
            <a:ext cx="3291840" cy="594360"/>
          </a:xfrm>
          <a:prstGeom prst="roundRect">
            <a:avLst/>
          </a:prstGeom>
          <a:solidFill>
            <a:srgbClr val="1C2028"/>
          </a:solidFill>
          <a:ln w="19050">
            <a:solidFill>
              <a:srgbClr val="00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MediaPipe PoseLandmarker</a:t>
            </a:r>
          </a:p>
          <a:p>
            <a:pPr algn="ctr">
              <a:defRPr sz="900">
                <a:solidFill>
                  <a:srgbClr val="B4D7F5"/>
                </a:solidFill>
                <a:latin typeface="Segoe UI"/>
              </a:defRPr>
            </a:pPr>
            <a:r>
              <a:t>(33 3D Keypoints)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22238" y="2286000"/>
            <a:ext cx="146304" cy="228600"/>
          </a:xfrm>
          <a:prstGeom prst="downArrow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49470" y="2514600"/>
            <a:ext cx="3291840" cy="594360"/>
          </a:xfrm>
          <a:prstGeom prst="roundRect">
            <a:avLst/>
          </a:prstGeom>
          <a:solidFill>
            <a:srgbClr val="1C2028"/>
          </a:solidFill>
          <a:ln w="19050">
            <a:solidFill>
              <a:srgbClr val="00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Kinematics Engine</a:t>
            </a:r>
          </a:p>
          <a:p>
            <a:pPr algn="ctr">
              <a:defRPr sz="900">
                <a:solidFill>
                  <a:srgbClr val="B4D7F5"/>
                </a:solidFill>
                <a:latin typeface="Segoe UI"/>
              </a:defRPr>
            </a:pPr>
            <a:r>
              <a:t>(2D/3D Angles, Inclinations, EMA Filter)</a:t>
            </a:r>
          </a:p>
        </p:txBody>
      </p:sp>
      <p:sp>
        <p:nvSpPr>
          <p:cNvPr id="9" name="Down Arrow 8"/>
          <p:cNvSpPr/>
          <p:nvPr/>
        </p:nvSpPr>
        <p:spPr>
          <a:xfrm>
            <a:off x="6022238" y="3108960"/>
            <a:ext cx="146304" cy="228600"/>
          </a:xfrm>
          <a:prstGeom prst="downArrow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49470" y="3337560"/>
            <a:ext cx="3291840" cy="594360"/>
          </a:xfrm>
          <a:prstGeom prst="roundRect">
            <a:avLst/>
          </a:prstGeom>
          <a:solidFill>
            <a:srgbClr val="1C2028"/>
          </a:solidFill>
          <a:ln w="19050">
            <a:solidFill>
              <a:srgbClr val="00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Auto-Perspective Resolver</a:t>
            </a:r>
          </a:p>
          <a:p>
            <a:pPr algn="ctr">
              <a:defRPr sz="900">
                <a:solidFill>
                  <a:srgbClr val="B4D7F5"/>
                </a:solidFill>
                <a:latin typeface="Segoe UI"/>
              </a:defRPr>
            </a:pPr>
            <a:r>
              <a:t>(Left / Right / Frontal View)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022238" y="3931920"/>
            <a:ext cx="146304" cy="228600"/>
          </a:xfrm>
          <a:prstGeom prst="downArrow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49470" y="4160520"/>
            <a:ext cx="3291840" cy="594360"/>
          </a:xfrm>
          <a:prstGeom prst="roundRect">
            <a:avLst/>
          </a:prstGeom>
          <a:solidFill>
            <a:srgbClr val="1C2028"/>
          </a:solidFill>
          <a:ln w="19050">
            <a:solidFill>
              <a:srgbClr val="00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Exercise State Machine</a:t>
            </a:r>
          </a:p>
          <a:p>
            <a:pPr algn="ctr">
              <a:defRPr sz="900">
                <a:solidFill>
                  <a:srgbClr val="B4D7F5"/>
                </a:solidFill>
                <a:latin typeface="Segoe UI"/>
              </a:defRPr>
            </a:pPr>
            <a:r>
              <a:t>(Squat, Push-up, Curl, Plank, etc.)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010558" y="4754880"/>
            <a:ext cx="146304" cy="228600"/>
          </a:xfrm>
          <a:prstGeom prst="downArrow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8033918" y="4754880"/>
            <a:ext cx="146304" cy="228600"/>
          </a:xfrm>
          <a:prstGeom prst="downArrow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46350" y="4983480"/>
            <a:ext cx="3474720" cy="594360"/>
          </a:xfrm>
          <a:prstGeom prst="roundRect">
            <a:avLst/>
          </a:prstGeom>
          <a:solidFill>
            <a:srgbClr val="1C2028"/>
          </a:solidFill>
          <a:ln w="19050">
            <a:solidFill>
              <a:srgbClr val="00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Rep Counter &amp; Quality Gate</a:t>
            </a:r>
          </a:p>
          <a:p>
            <a:pPr algn="ctr">
              <a:defRPr sz="900">
                <a:solidFill>
                  <a:srgbClr val="B4D7F5"/>
                </a:solidFill>
                <a:latin typeface="Segoe UI"/>
              </a:defRPr>
            </a:pPr>
            <a:r>
              <a:t>(Good Reps vs. Bad Reps, Form Score 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9710" y="4983480"/>
            <a:ext cx="3474720" cy="594360"/>
          </a:xfrm>
          <a:prstGeom prst="roundRect">
            <a:avLst/>
          </a:prstGeom>
          <a:solidFill>
            <a:srgbClr val="1C2028"/>
          </a:solidFill>
          <a:ln w="19050">
            <a:solidFill>
              <a:srgbClr val="00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Posture Violation Detector</a:t>
            </a:r>
          </a:p>
          <a:p>
            <a:pPr algn="ctr">
              <a:defRPr sz="900">
                <a:solidFill>
                  <a:srgbClr val="B4D7F5"/>
                </a:solidFill>
                <a:latin typeface="Segoe UI"/>
              </a:defRPr>
            </a:pPr>
            <a:r>
              <a:t>(Depth, Spine Lean, Valgus, Sagging)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410358" y="5577840"/>
            <a:ext cx="146304" cy="228599"/>
          </a:xfrm>
          <a:prstGeom prst="downArrow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6022238" y="5577840"/>
            <a:ext cx="146304" cy="228599"/>
          </a:xfrm>
          <a:prstGeom prst="downArrow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9634118" y="5577840"/>
            <a:ext cx="146304" cy="228599"/>
          </a:xfrm>
          <a:prstGeom prst="downArrow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7590" y="5806440"/>
            <a:ext cx="3291840" cy="594360"/>
          </a:xfrm>
          <a:prstGeom prst="roundRect">
            <a:avLst/>
          </a:prstGeom>
          <a:solidFill>
            <a:srgbClr val="1C2028"/>
          </a:solidFill>
          <a:ln w="19050">
            <a:solidFill>
              <a:srgbClr val="00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Visualizer HUD</a:t>
            </a:r>
          </a:p>
          <a:p>
            <a:pPr algn="ctr">
              <a:defRPr sz="900">
                <a:solidFill>
                  <a:srgbClr val="B4D7F5"/>
                </a:solidFill>
                <a:latin typeface="Segoe UI"/>
              </a:defRPr>
            </a:pPr>
            <a:r>
              <a:t>(Color-Coded Skeleton, Angle Badges, Progress Meter)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470" y="5806440"/>
            <a:ext cx="3291840" cy="594360"/>
          </a:xfrm>
          <a:prstGeom prst="roundRect">
            <a:avLst/>
          </a:prstGeom>
          <a:solidFill>
            <a:srgbClr val="1C2028"/>
          </a:solidFill>
          <a:ln w="19050">
            <a:solidFill>
              <a:srgbClr val="00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Asynchronous Audio Engine</a:t>
            </a:r>
          </a:p>
          <a:p>
            <a:pPr algn="ctr">
              <a:defRPr sz="900">
                <a:solidFill>
                  <a:srgbClr val="B4D7F5"/>
                </a:solidFill>
                <a:latin typeface="Segoe UI"/>
              </a:defRPr>
            </a:pPr>
            <a:r>
              <a:t>(Daemon Worker Chimes &amp; Alerts)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1350" y="5806440"/>
            <a:ext cx="3291840" cy="594360"/>
          </a:xfrm>
          <a:prstGeom prst="roundRect">
            <a:avLst/>
          </a:prstGeom>
          <a:solidFill>
            <a:srgbClr val="1C2028"/>
          </a:solidFill>
          <a:ln w="19050">
            <a:solidFill>
              <a:srgbClr val="00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Workout Reporter</a:t>
            </a:r>
          </a:p>
          <a:p>
            <a:pPr algn="ctr">
              <a:defRPr sz="900">
                <a:solidFill>
                  <a:srgbClr val="B4D7F5"/>
                </a:solidFill>
                <a:latin typeface="Segoe UI"/>
              </a:defRPr>
            </a:pPr>
            <a:r>
              <a:t>(Telemetry Logs, JSON &amp; Terminal Summary)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3C8C"/>
                </a:solidFill>
                <a:latin typeface="Segoe UI"/>
              </a:defRPr>
            </a:pPr>
            <a:r>
              <a:t>System Architecture &amp; Execution Flowchart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470" y="868680"/>
            <a:ext cx="32918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14233C"/>
                </a:solidFill>
                <a:latin typeface="Segoe UI"/>
              </a:defRPr>
            </a:pPr>
            <a:r>
              <a:t>Input Source</a:t>
            </a:r>
          </a:p>
          <a:p>
            <a:pPr algn="ctr">
              <a:defRPr sz="900">
                <a:solidFill>
                  <a:srgbClr val="465A78"/>
                </a:solidFill>
                <a:latin typeface="Segoe UI"/>
              </a:defRPr>
            </a:pPr>
            <a:r>
              <a:t>(Webcam / Video File / Demo)</a:t>
            </a:r>
          </a:p>
        </p:txBody>
      </p:sp>
      <p:sp>
        <p:nvSpPr>
          <p:cNvPr id="5" name="Down Arrow 4"/>
          <p:cNvSpPr/>
          <p:nvPr/>
        </p:nvSpPr>
        <p:spPr>
          <a:xfrm>
            <a:off x="6022238" y="1463040"/>
            <a:ext cx="146304" cy="228600"/>
          </a:xfrm>
          <a:prstGeom prst="downArrow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49470" y="1691640"/>
            <a:ext cx="32918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14233C"/>
                </a:solidFill>
                <a:latin typeface="Segoe UI"/>
              </a:defRPr>
            </a:pPr>
            <a:r>
              <a:t>MediaPipe PoseLandmarker</a:t>
            </a:r>
          </a:p>
          <a:p>
            <a:pPr algn="ctr">
              <a:defRPr sz="900">
                <a:solidFill>
                  <a:srgbClr val="465A78"/>
                </a:solidFill>
                <a:latin typeface="Segoe UI"/>
              </a:defRPr>
            </a:pPr>
            <a:r>
              <a:t>(33 3D Keypoints)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22238" y="2286000"/>
            <a:ext cx="146304" cy="228600"/>
          </a:xfrm>
          <a:prstGeom prst="downArrow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49470" y="2514600"/>
            <a:ext cx="32918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14233C"/>
                </a:solidFill>
                <a:latin typeface="Segoe UI"/>
              </a:defRPr>
            </a:pPr>
            <a:r>
              <a:t>Kinematics Engine</a:t>
            </a:r>
          </a:p>
          <a:p>
            <a:pPr algn="ctr">
              <a:defRPr sz="900">
                <a:solidFill>
                  <a:srgbClr val="465A78"/>
                </a:solidFill>
                <a:latin typeface="Segoe UI"/>
              </a:defRPr>
            </a:pPr>
            <a:r>
              <a:t>(2D/3D Angles, Inclinations, EMA Filter)</a:t>
            </a:r>
          </a:p>
        </p:txBody>
      </p:sp>
      <p:sp>
        <p:nvSpPr>
          <p:cNvPr id="9" name="Down Arrow 8"/>
          <p:cNvSpPr/>
          <p:nvPr/>
        </p:nvSpPr>
        <p:spPr>
          <a:xfrm>
            <a:off x="6022238" y="3108960"/>
            <a:ext cx="146304" cy="228600"/>
          </a:xfrm>
          <a:prstGeom prst="downArrow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49470" y="3337560"/>
            <a:ext cx="32918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14233C"/>
                </a:solidFill>
                <a:latin typeface="Segoe UI"/>
              </a:defRPr>
            </a:pPr>
            <a:r>
              <a:t>Auto-Perspective Resolver</a:t>
            </a:r>
          </a:p>
          <a:p>
            <a:pPr algn="ctr">
              <a:defRPr sz="900">
                <a:solidFill>
                  <a:srgbClr val="465A78"/>
                </a:solidFill>
                <a:latin typeface="Segoe UI"/>
              </a:defRPr>
            </a:pPr>
            <a:r>
              <a:t>(Left / Right / Frontal View)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022238" y="3931920"/>
            <a:ext cx="146304" cy="228600"/>
          </a:xfrm>
          <a:prstGeom prst="downArrow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49470" y="4160520"/>
            <a:ext cx="32918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14233C"/>
                </a:solidFill>
                <a:latin typeface="Segoe UI"/>
              </a:defRPr>
            </a:pPr>
            <a:r>
              <a:t>Exercise State Machine</a:t>
            </a:r>
          </a:p>
          <a:p>
            <a:pPr algn="ctr">
              <a:defRPr sz="900">
                <a:solidFill>
                  <a:srgbClr val="465A78"/>
                </a:solidFill>
                <a:latin typeface="Segoe UI"/>
              </a:defRPr>
            </a:pPr>
            <a:r>
              <a:t>(Squat, Push-up, Curl, Plank, etc.)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010558" y="4754880"/>
            <a:ext cx="146304" cy="228600"/>
          </a:xfrm>
          <a:prstGeom prst="downArrow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8033918" y="4754880"/>
            <a:ext cx="146304" cy="228600"/>
          </a:xfrm>
          <a:prstGeom prst="downArrow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46350" y="4983480"/>
            <a:ext cx="34747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14233C"/>
                </a:solidFill>
                <a:latin typeface="Segoe UI"/>
              </a:defRPr>
            </a:pPr>
            <a:r>
              <a:t>Rep Counter &amp; Quality Gate</a:t>
            </a:r>
          </a:p>
          <a:p>
            <a:pPr algn="ctr">
              <a:defRPr sz="900">
                <a:solidFill>
                  <a:srgbClr val="465A78"/>
                </a:solidFill>
                <a:latin typeface="Segoe UI"/>
              </a:defRPr>
            </a:pPr>
            <a:r>
              <a:t>(Good Reps vs. Bad Reps, Form Score 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9710" y="4983480"/>
            <a:ext cx="34747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14233C"/>
                </a:solidFill>
                <a:latin typeface="Segoe UI"/>
              </a:defRPr>
            </a:pPr>
            <a:r>
              <a:t>Posture Violation Detector</a:t>
            </a:r>
          </a:p>
          <a:p>
            <a:pPr algn="ctr">
              <a:defRPr sz="900">
                <a:solidFill>
                  <a:srgbClr val="465A78"/>
                </a:solidFill>
                <a:latin typeface="Segoe UI"/>
              </a:defRPr>
            </a:pPr>
            <a:r>
              <a:t>(Depth, Spine Lean, Valgus, Sagging)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410358" y="5577840"/>
            <a:ext cx="146304" cy="228599"/>
          </a:xfrm>
          <a:prstGeom prst="downArrow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6022238" y="5577840"/>
            <a:ext cx="146304" cy="228599"/>
          </a:xfrm>
          <a:prstGeom prst="downArrow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9634118" y="5577840"/>
            <a:ext cx="146304" cy="228599"/>
          </a:xfrm>
          <a:prstGeom prst="downArrow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7590" y="5806440"/>
            <a:ext cx="32918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14233C"/>
                </a:solidFill>
                <a:latin typeface="Segoe UI"/>
              </a:defRPr>
            </a:pPr>
            <a:r>
              <a:t>Visualizer HUD</a:t>
            </a:r>
          </a:p>
          <a:p>
            <a:pPr algn="ctr">
              <a:defRPr sz="900">
                <a:solidFill>
                  <a:srgbClr val="465A78"/>
                </a:solidFill>
                <a:latin typeface="Segoe UI"/>
              </a:defRPr>
            </a:pPr>
            <a:r>
              <a:t>(Color-Coded Skeleton, Angle Badges, Progress Meter)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470" y="5806440"/>
            <a:ext cx="32918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14233C"/>
                </a:solidFill>
                <a:latin typeface="Segoe UI"/>
              </a:defRPr>
            </a:pPr>
            <a:r>
              <a:t>Asynchronous Audio Engine</a:t>
            </a:r>
          </a:p>
          <a:p>
            <a:pPr algn="ctr">
              <a:defRPr sz="900">
                <a:solidFill>
                  <a:srgbClr val="465A78"/>
                </a:solidFill>
                <a:latin typeface="Segoe UI"/>
              </a:defRPr>
            </a:pPr>
            <a:r>
              <a:t>(Daemon Worker Chimes &amp; Alerts)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1350" y="5806440"/>
            <a:ext cx="32918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100" b="1">
                <a:solidFill>
                  <a:srgbClr val="14233C"/>
                </a:solidFill>
                <a:latin typeface="Segoe UI"/>
              </a:defRPr>
            </a:pPr>
            <a:r>
              <a:t>Workout Reporter</a:t>
            </a:r>
          </a:p>
          <a:p>
            <a:pPr algn="ctr">
              <a:defRPr sz="900">
                <a:solidFill>
                  <a:srgbClr val="465A78"/>
                </a:solidFill>
                <a:latin typeface="Segoe UI"/>
              </a:defRPr>
            </a:pPr>
            <a:r>
              <a:t>(Telemetry Logs, JSON &amp; Terminal Summary)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